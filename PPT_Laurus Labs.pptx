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1" r:id="rId2"/>
    <p:sldId id="256" r:id="rId3"/>
    <p:sldId id="258" r:id="rId4"/>
    <p:sldId id="260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32" dt="2026-09-29T18:36:32.028"/>
  </p1510:revLst>
</p1510:revInfo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507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11C46-3130-1818-DCE9-3D91183A8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59D3D-6BD0-9D9A-7322-0FEB3C7A7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B2C351-B43A-DA4D-5662-DFB9C94E3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840D4-69EE-CC20-D60E-61E9241B96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815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aurus Labs Ltd: Fundamental Analysis - Dr Vijay Malik">
            <a:extLst>
              <a:ext uri="{FF2B5EF4-FFF2-40B4-BE49-F238E27FC236}">
                <a16:creationId xmlns:a16="http://schemas.microsoft.com/office/drawing/2014/main" id="{D0F6AA01-E834-49E6-FB3C-4E1CF29BD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10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734800" cy="640080"/>
          </a:xfrm>
          <a:prstGeom prst="rect">
            <a:avLst/>
          </a:prstGeom>
          <a:noFill/>
          <a:ln/>
        </p:spPr>
        <p:txBody>
          <a:bodyPr wrap="square" lIns="45720" rIns="4572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sz="2800" b="1" i="0" dirty="0">
                <a:solidFill>
                  <a:srgbClr val="212F3D"/>
                </a:solidFill>
                <a:latin typeface="Arial"/>
              </a:rPr>
              <a:t>Laurus Labs Limited | Company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45720" rIns="4572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 b="0" i="1" dirty="0">
                <a:solidFill>
                  <a:srgbClr val="59636D"/>
                </a:solidFill>
                <a:latin typeface="Arial"/>
              </a:rPr>
              <a:t>Prepared by: [</a:t>
            </a:r>
            <a:r>
              <a:rPr lang="en-IN" sz="800" b="0" i="1" dirty="0">
                <a:solidFill>
                  <a:srgbClr val="59636D"/>
                </a:solidFill>
                <a:latin typeface="Arial"/>
              </a:rPr>
              <a:t>Saisha Hemrajani</a:t>
            </a:r>
            <a:r>
              <a:rPr sz="800" b="0" i="1" dirty="0">
                <a:solidFill>
                  <a:srgbClr val="59636D"/>
                </a:solidFill>
                <a:latin typeface="Arial"/>
              </a:rPr>
              <a:t>]  |  Target: Laurus Labs Ltd  |  Valuation date: 31-Mar-2026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58368" y="1196890"/>
            <a:ext cx="5084064" cy="3657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73152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50" b="1">
                <a:solidFill>
                  <a:srgbClr val="2E5B7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500"/>
          </a:p>
        </p:txBody>
      </p:sp>
      <p:sp>
        <p:nvSpPr>
          <p:cNvPr id="8" name="Text 6"/>
          <p:cNvSpPr txBox="1"/>
          <p:nvPr/>
        </p:nvSpPr>
        <p:spPr>
          <a:xfrm>
            <a:off x="558188" y="1562651"/>
            <a:ext cx="5341242" cy="1957904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171450" indent="-171450">
              <a:lnSpc>
                <a:spcPct val="105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  <a:defRPr sz="940">
                <a:solidFill>
                  <a:srgbClr val="232B33"/>
                </a:solidFill>
                <a:latin typeface="Arial"/>
              </a:defRPr>
            </a:pPr>
            <a:r>
              <a:rPr lang="en-US" sz="1100" b="1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When founded? </a:t>
            </a:r>
            <a:r>
              <a:rPr sz="1050" dirty="0">
                <a:latin typeface="Arial" panose="020B0604020202020204" pitchFamily="34" charset="0"/>
                <a:cs typeface="Arial" panose="020B0604020202020204" pitchFamily="34" charset="0"/>
              </a:rPr>
              <a:t>Founded in 2005; integrated pharmaceutical and CDMO platform.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40">
                <a:solidFill>
                  <a:srgbClr val="232B33"/>
                </a:solidFill>
                <a:latin typeface="Arial"/>
              </a:defRPr>
            </a:pPr>
            <a:r>
              <a:rPr lang="en-US" sz="1100" b="1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Key products / services: </a:t>
            </a:r>
            <a:r>
              <a:rPr sz="1050" dirty="0">
                <a:latin typeface="Arial" panose="020B0604020202020204" pitchFamily="34" charset="0"/>
                <a:cs typeface="Arial" panose="020B0604020202020204" pitchFamily="34" charset="0"/>
              </a:rPr>
              <a:t>APIs, finished dosage formulations, small-molecule CDMO and Bio CDMO.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40">
                <a:solidFill>
                  <a:srgbClr val="232B33"/>
                </a:solidFill>
                <a:latin typeface="Arial"/>
              </a:defRPr>
            </a:pPr>
            <a:r>
              <a:rPr sz="1050" b="1" dirty="0">
                <a:latin typeface="Arial" panose="020B0604020202020204" pitchFamily="34" charset="0"/>
                <a:cs typeface="Arial" panose="020B0604020202020204" pitchFamily="34" charset="0"/>
              </a:rPr>
              <a:t>Promoter &amp; promoter group holding: </a:t>
            </a:r>
            <a:r>
              <a:rPr sz="1050" dirty="0">
                <a:latin typeface="Arial" panose="020B0604020202020204" pitchFamily="34" charset="0"/>
                <a:cs typeface="Arial" panose="020B0604020202020204" pitchFamily="34" charset="0"/>
              </a:rPr>
              <a:t>27.49% as of 31-Mar-2026.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40">
                <a:solidFill>
                  <a:srgbClr val="232B33"/>
                </a:solidFill>
                <a:latin typeface="Arial"/>
              </a:defRPr>
            </a:pPr>
            <a:r>
              <a:rPr lang="en-US" sz="1050" b="1" dirty="0">
                <a:solidFill>
                  <a:srgbClr val="232B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Listing</a:t>
            </a:r>
            <a:r>
              <a:rPr lang="en-US" sz="1100" i="1" dirty="0">
                <a:solidFill>
                  <a:srgbClr val="3D4852"/>
                </a:solidFill>
                <a:latin typeface="Arial"/>
                <a:ea typeface="Calibri"/>
                <a:cs typeface="Calibri"/>
              </a:rPr>
              <a:t> </a:t>
            </a:r>
            <a:r>
              <a:rPr lang="en-US" sz="1050" b="1" dirty="0">
                <a:solidFill>
                  <a:srgbClr val="232B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details</a:t>
            </a:r>
            <a:r>
              <a:rPr lang="en-US" sz="1100" i="1" dirty="0">
                <a:solidFill>
                  <a:srgbClr val="3D4852"/>
                </a:solidFill>
                <a:latin typeface="Arial"/>
                <a:ea typeface="Calibri"/>
                <a:cs typeface="Calibri"/>
              </a:rPr>
              <a:t>: </a:t>
            </a:r>
            <a:r>
              <a:rPr sz="1050" dirty="0">
                <a:latin typeface="Arial" panose="020B0604020202020204" pitchFamily="34" charset="0"/>
                <a:cs typeface="Arial" panose="020B0604020202020204" pitchFamily="34" charset="0"/>
              </a:rPr>
              <a:t>NSE: LAURUSLABS; BSE: 540222; model market cap: ₹53,592 Cr.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40">
                <a:solidFill>
                  <a:srgbClr val="232B33"/>
                </a:solidFill>
                <a:latin typeface="Arial"/>
              </a:defRPr>
            </a:pPr>
            <a:r>
              <a:rPr sz="1050" b="1" dirty="0">
                <a:latin typeface="Arial" panose="020B0604020202020204" pitchFamily="34" charset="0"/>
                <a:cs typeface="Arial" panose="020B0604020202020204" pitchFamily="34" charset="0"/>
              </a:rPr>
              <a:t>Registered office</a:t>
            </a:r>
            <a:r>
              <a:rPr sz="105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050" dirty="0" err="1">
                <a:latin typeface="Arial" panose="020B0604020202020204" pitchFamily="34" charset="0"/>
                <a:cs typeface="Arial" panose="020B0604020202020204" pitchFamily="34" charset="0"/>
              </a:rPr>
              <a:t>Parawada</a:t>
            </a:r>
            <a:r>
              <a:rPr sz="1050" dirty="0">
                <a:latin typeface="Arial" panose="020B0604020202020204" pitchFamily="34" charset="0"/>
                <a:cs typeface="Arial" panose="020B0604020202020204" pitchFamily="34" charset="0"/>
              </a:rPr>
              <a:t>, Andhra Pradesh; corporate office: Hyderabad; core manufacturing: Visakhapatnam.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40">
                <a:solidFill>
                  <a:srgbClr val="232B33"/>
                </a:solidFill>
                <a:latin typeface="Arial"/>
              </a:defRPr>
            </a:pPr>
            <a:r>
              <a:rPr sz="1050" b="1" dirty="0"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  <a:r>
              <a:rPr lang="en-IN" sz="1050" b="1" dirty="0">
                <a:latin typeface="Arial" panose="020B0604020202020204" pitchFamily="34" charset="0"/>
                <a:cs typeface="Arial" panose="020B0604020202020204" pitchFamily="34" charset="0"/>
              </a:rPr>
              <a:t> drivers</a:t>
            </a:r>
            <a:r>
              <a:rPr sz="1050" dirty="0">
                <a:latin typeface="Arial" panose="020B0604020202020204" pitchFamily="34" charset="0"/>
                <a:cs typeface="Arial" panose="020B0604020202020204" pitchFamily="34" charset="0"/>
              </a:rPr>
              <a:t>: CDMO outsourcing, complex molecules, formulations, peptides/fermentation and advanced modalities. </a:t>
            </a:r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40">
                <a:solidFill>
                  <a:srgbClr val="232B33"/>
                </a:solidFill>
                <a:latin typeface="Arial"/>
              </a:defRPr>
            </a:pPr>
            <a:r>
              <a:rPr sz="1050" b="1" dirty="0">
                <a:latin typeface="Arial" panose="020B0604020202020204" pitchFamily="34" charset="0"/>
                <a:cs typeface="Arial" panose="020B0604020202020204" pitchFamily="34" charset="0"/>
              </a:rPr>
              <a:t>Risks</a:t>
            </a:r>
            <a:r>
              <a:rPr sz="1050" dirty="0">
                <a:latin typeface="Arial" panose="020B0604020202020204" pitchFamily="34" charset="0"/>
                <a:cs typeface="Arial" panose="020B0604020202020204" pitchFamily="34" charset="0"/>
              </a:rPr>
              <a:t>: regulation, pricing pressure, capex execution and innovation.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56725" y="1234440"/>
            <a:ext cx="5088341" cy="2366067"/>
          </a:xfrm>
          <a:prstGeom prst="rect">
            <a:avLst/>
          </a:prstGeom>
          <a:solidFill>
            <a:srgbClr val="FFFFFF"/>
          </a:solidFill>
          <a:ln w="10160">
            <a:solidFill>
              <a:srgbClr val="BCCDD9"/>
            </a:solidFill>
          </a:ln>
          <a:effectLst>
            <a:outerShdw blurRad="88900" dist="38100" dir="5400000" algn="bl" rotWithShape="0">
              <a:srgbClr val="AAB4CC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257650" y="1211345"/>
            <a:ext cx="5409184" cy="355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73152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450" b="1" dirty="0">
                <a:solidFill>
                  <a:srgbClr val="2E5B7D"/>
                </a:solidFill>
                <a:latin typeface="Arial"/>
                <a:ea typeface="Calibri"/>
                <a:cs typeface="Calibri"/>
              </a:rPr>
              <a:t>Financial overview – last three  years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81214"/>
              </p:ext>
            </p:extLst>
          </p:nvPr>
        </p:nvGraphicFramePr>
        <p:xfrm>
          <a:off x="6268720" y="1666240"/>
          <a:ext cx="5433017" cy="195447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166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453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18288" marB="18288" anchor="ctr">
                    <a:solidFill>
                      <a:srgbClr val="F8C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2B5C85"/>
                          </a:solidFill>
                          <a:latin typeface="Arial"/>
                        </a:rPr>
                        <a:t>FY24A</a:t>
                      </a:r>
                    </a:p>
                  </a:txBody>
                  <a:tcPr marL="64008" marR="64008" marT="18288" marB="18288" anchor="ctr">
                    <a:solidFill>
                      <a:srgbClr val="F8C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2B5C85"/>
                          </a:solidFill>
                          <a:latin typeface="Arial"/>
                        </a:rPr>
                        <a:t>FY25A</a:t>
                      </a:r>
                    </a:p>
                  </a:txBody>
                  <a:tcPr marL="64008" marR="64008" marT="18288" marB="18288" anchor="ctr">
                    <a:solidFill>
                      <a:srgbClr val="F8C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2B5C85"/>
                          </a:solidFill>
                          <a:latin typeface="Arial"/>
                        </a:rPr>
                        <a:t>FY26A</a:t>
                      </a:r>
                    </a:p>
                  </a:txBody>
                  <a:tcPr marL="64008" marR="64008" marT="18288" marB="18288" anchor="ctr">
                    <a:solidFill>
                      <a:srgbClr val="F8C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929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2B5C85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32B33"/>
                          </a:solidFill>
                          <a:latin typeface="Arial"/>
                        </a:rPr>
                        <a:t>₹5,041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32B33"/>
                          </a:solidFill>
                          <a:latin typeface="Arial"/>
                        </a:rPr>
                        <a:t>₹5,554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32B33"/>
                          </a:solidFill>
                          <a:latin typeface="Arial"/>
                        </a:rPr>
                        <a:t>₹6,813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929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2B5C85"/>
                          </a:solidFill>
                          <a:latin typeface="Arial"/>
                        </a:rPr>
                        <a:t>EBIT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32B33"/>
                          </a:solidFill>
                          <a:latin typeface="Arial"/>
                        </a:rPr>
                        <a:t>₹414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32B33"/>
                          </a:solidFill>
                          <a:latin typeface="Arial"/>
                        </a:rPr>
                        <a:t>₹685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32B33"/>
                          </a:solidFill>
                          <a:latin typeface="Arial"/>
                        </a:rPr>
                        <a:t>₹1,346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929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2B5C85"/>
                          </a:solidFill>
                          <a:latin typeface="Arial"/>
                        </a:rPr>
                        <a:t>PAT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32B33"/>
                          </a:solidFill>
                          <a:latin typeface="Arial"/>
                        </a:rPr>
                        <a:t>₹161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32B33"/>
                          </a:solidFill>
                          <a:latin typeface="Arial"/>
                        </a:rPr>
                        <a:t>₹358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32B33"/>
                          </a:solidFill>
                          <a:latin typeface="Arial"/>
                        </a:rPr>
                        <a:t>₹889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929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2B5C85"/>
                          </a:solidFill>
                          <a:latin typeface="Arial"/>
                        </a:rPr>
                        <a:t>ROCE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32B33"/>
                          </a:solidFill>
                          <a:latin typeface="Arial"/>
                        </a:rPr>
                        <a:t>7.8%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32B33"/>
                          </a:solidFill>
                          <a:latin typeface="Arial"/>
                        </a:rPr>
                        <a:t>11.8%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32B33"/>
                          </a:solidFill>
                          <a:latin typeface="Arial"/>
                        </a:rPr>
                        <a:t>19.6%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929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2B5C85"/>
                          </a:solidFill>
                          <a:latin typeface="Arial"/>
                        </a:rPr>
                        <a:t>ROE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32B33"/>
                          </a:solidFill>
                          <a:latin typeface="Arial"/>
                        </a:rPr>
                        <a:t>3.9%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32B33"/>
                          </a:solidFill>
                          <a:latin typeface="Arial"/>
                        </a:rPr>
                        <a:t>8.0%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32B33"/>
                          </a:solidFill>
                          <a:latin typeface="Arial"/>
                        </a:rPr>
                        <a:t>16.8%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929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2B5C85"/>
                          </a:solidFill>
                          <a:latin typeface="Arial"/>
                        </a:rPr>
                        <a:t>D/E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32B33"/>
                          </a:solidFill>
                          <a:latin typeface="Arial"/>
                        </a:rPr>
                        <a:t>0.6x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32B33"/>
                          </a:solidFill>
                          <a:latin typeface="Arial"/>
                        </a:rPr>
                        <a:t>0.6x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32B33"/>
                          </a:solidFill>
                          <a:latin typeface="Arial"/>
                        </a:rPr>
                        <a:t>0.4x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017333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6220132" y="3733367"/>
            <a:ext cx="5481605" cy="2555875"/>
          </a:xfrm>
          <a:prstGeom prst="rect">
            <a:avLst/>
          </a:prstGeom>
          <a:solidFill>
            <a:srgbClr val="FFFFFF"/>
          </a:solidFill>
          <a:ln w="10160">
            <a:solidFill>
              <a:srgbClr val="BCCDD9"/>
            </a:solidFill>
          </a:ln>
          <a:effectLst>
            <a:outerShdw blurRad="88900" dist="38100" dir="5400000" algn="bl" rotWithShape="0">
              <a:srgbClr val="AAB4CC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 txBox="1"/>
          <p:nvPr/>
        </p:nvSpPr>
        <p:spPr>
          <a:xfrm>
            <a:off x="6265778" y="3831336"/>
            <a:ext cx="5084064" cy="3657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73152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450" b="1" dirty="0">
                <a:solidFill>
                  <a:srgbClr val="2E5B7D"/>
                </a:solidFill>
                <a:latin typeface="Arial"/>
                <a:ea typeface="Calibri"/>
                <a:cs typeface="Calibri"/>
              </a:rPr>
              <a:t>Revenue Growth Story</a:t>
            </a:r>
          </a:p>
        </p:txBody>
      </p:sp>
      <p:sp>
        <p:nvSpPr>
          <p:cNvPr id="18" name="Text 14"/>
          <p:cNvSpPr txBox="1"/>
          <p:nvPr/>
        </p:nvSpPr>
        <p:spPr>
          <a:xfrm>
            <a:off x="6302354" y="4261161"/>
            <a:ext cx="5404178" cy="18264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>
              <a:lnSpc>
                <a:spcPct val="105000"/>
              </a:lnSpc>
              <a:spcAft>
                <a:spcPts val="600"/>
              </a:spcAft>
              <a:buSzPct val="100000"/>
              <a:defRPr sz="969">
                <a:solidFill>
                  <a:srgbClr val="232B33"/>
                </a:solidFill>
                <a:latin typeface="Arial"/>
              </a:defRPr>
            </a:pPr>
            <a:r>
              <a:rPr lang="en-US" sz="1600" b="1" dirty="0">
                <a:solidFill>
                  <a:srgbClr val="232B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growth assumption %:</a:t>
            </a:r>
          </a:p>
          <a:p>
            <a:pPr>
              <a:lnSpc>
                <a:spcPct val="105000"/>
              </a:lnSpc>
              <a:spcAft>
                <a:spcPts val="600"/>
              </a:spcAft>
              <a:buSzPct val="100000"/>
              <a:defRPr sz="969">
                <a:solidFill>
                  <a:srgbClr val="232B33"/>
                </a:solidFill>
                <a:latin typeface="Arial"/>
              </a:defRPr>
            </a:pPr>
            <a:r>
              <a:rPr sz="1100" dirty="0"/>
              <a:t>Primary forecast: 15% consolidated revenue growth p.a. in FY27E–FY31E.</a:t>
            </a:r>
          </a:p>
          <a:p>
            <a:pPr>
              <a:spcAft>
                <a:spcPts val="600"/>
              </a:spcAft>
              <a:defRPr sz="969">
                <a:solidFill>
                  <a:srgbClr val="232B33"/>
                </a:solidFill>
                <a:latin typeface="Arial"/>
              </a:defRPr>
            </a:pPr>
            <a:r>
              <a:rPr lang="en-IN" sz="1100" dirty="0"/>
              <a:t>(1) </a:t>
            </a:r>
            <a:r>
              <a:rPr sz="1100" b="1" dirty="0"/>
              <a:t>Rationale</a:t>
            </a:r>
            <a:r>
              <a:rPr sz="1100" dirty="0"/>
              <a:t>: Moderated from FY26 revenue growth of 23%; assumes sustained CDMO momentum and continued scale-up while normalising growth as the base expands.</a:t>
            </a:r>
          </a:p>
          <a:p>
            <a:pPr>
              <a:spcAft>
                <a:spcPts val="600"/>
              </a:spcAft>
              <a:defRPr sz="969">
                <a:solidFill>
                  <a:srgbClr val="232B33"/>
                </a:solidFill>
                <a:latin typeface="Arial"/>
              </a:defRPr>
            </a:pPr>
            <a:r>
              <a:rPr lang="en-IN" sz="1100" dirty="0"/>
              <a:t>(2</a:t>
            </a:r>
            <a:r>
              <a:rPr lang="en-IN" sz="1100" b="1" dirty="0"/>
              <a:t>) </a:t>
            </a:r>
            <a:r>
              <a:rPr sz="1100" b="1" dirty="0"/>
              <a:t>Scenario 2: </a:t>
            </a:r>
            <a:r>
              <a:rPr sz="1100" dirty="0"/>
              <a:t>20% small-molecule CDMO + 20% Bio CDMO + 10% Affordable Medicines growth; FY31 revenue ₹12,798 Cr.</a:t>
            </a:r>
          </a:p>
          <a:p>
            <a:pPr>
              <a:spcAft>
                <a:spcPts val="600"/>
              </a:spcAft>
              <a:defRPr sz="969">
                <a:solidFill>
                  <a:srgbClr val="232B33"/>
                </a:solidFill>
                <a:latin typeface="Arial"/>
              </a:defRPr>
            </a:pPr>
            <a:r>
              <a:rPr lang="en-IN" sz="1100" dirty="0"/>
              <a:t>(3) </a:t>
            </a:r>
            <a:r>
              <a:rPr sz="1100" b="1" dirty="0"/>
              <a:t>Operating anchor: </a:t>
            </a:r>
            <a:r>
              <a:rPr sz="1100" dirty="0"/>
              <a:t>Forecast EBITDA margin 26% vs. FY26A 26.8%; gross margin held at 60%.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950976"/>
            <a:ext cx="11274552" cy="22860"/>
          </a:xfrm>
          <a:prstGeom prst="rect">
            <a:avLst/>
          </a:prstGeom>
          <a:solidFill>
            <a:srgbClr val="BCC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6373368"/>
            <a:ext cx="11274552" cy="16459"/>
          </a:xfrm>
          <a:prstGeom prst="rect">
            <a:avLst/>
          </a:prstGeom>
          <a:solidFill>
            <a:srgbClr val="BCC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4567E1C5-F040-E407-8E8B-52D1B1A0D003}"/>
              </a:ext>
            </a:extLst>
          </p:cNvPr>
          <p:cNvSpPr txBox="1"/>
          <p:nvPr/>
        </p:nvSpPr>
        <p:spPr>
          <a:xfrm>
            <a:off x="743335" y="3520554"/>
            <a:ext cx="5084064" cy="3657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73152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Aft>
                <a:spcPts val="400"/>
              </a:spcAft>
              <a:buNone/>
            </a:pPr>
            <a:r>
              <a:rPr lang="en-US" sz="1450" b="1">
                <a:solidFill>
                  <a:srgbClr val="2E5B7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15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7E45E1-6F29-736F-375A-F5425F1F0A18}"/>
              </a:ext>
            </a:extLst>
          </p:cNvPr>
          <p:cNvSpPr txBox="1"/>
          <p:nvPr/>
        </p:nvSpPr>
        <p:spPr>
          <a:xfrm>
            <a:off x="485468" y="3883742"/>
            <a:ext cx="5341242" cy="2354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232B33"/>
                </a:solidFill>
                <a:latin typeface="Arial"/>
              </a:defRPr>
            </a:pPr>
            <a:r>
              <a:rPr lang="en-US" sz="1100" b="1" dirty="0">
                <a:solidFill>
                  <a:srgbClr val="232B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Market size and forecast size: </a:t>
            </a:r>
            <a:r>
              <a:rPr sz="1100" dirty="0"/>
              <a:t>India domestic pharma market: ₹5.30 lakh Cr in FY26; projected ₹12.47 lakh Cr by 2030 (implied ~24% CAGR).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232B33"/>
                </a:solidFill>
                <a:latin typeface="Arial"/>
              </a:defRPr>
            </a:pPr>
            <a:r>
              <a:rPr lang="en-US" sz="1100" b="1" dirty="0">
                <a:solidFill>
                  <a:srgbClr val="232B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Growth rate ( %) over the forecast period​;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IN" sz="1100" dirty="0">
                <a:solidFill>
                  <a:srgbClr val="232B33"/>
                </a:solidFill>
                <a:latin typeface="Arial"/>
              </a:rPr>
              <a:t>14.4% CAGR (2025–2031)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232B33"/>
                </a:solidFill>
                <a:latin typeface="Arial"/>
              </a:defRPr>
            </a:pPr>
            <a:r>
              <a:rPr lang="en-US" sz="1100" b="1" dirty="0">
                <a:solidFill>
                  <a:srgbClr val="232B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share</a:t>
            </a:r>
            <a:r>
              <a:rPr lang="en-US" sz="1100" i="1" dirty="0">
                <a:solidFill>
                  <a:srgbClr val="3D4852"/>
                </a:solidFill>
                <a:latin typeface="Arial"/>
                <a:ea typeface="Arial"/>
                <a:cs typeface="Arial"/>
              </a:rPr>
              <a:t>: </a:t>
            </a:r>
            <a:r>
              <a:rPr lang="en-IN" sz="1100" dirty="0">
                <a:solidFill>
                  <a:srgbClr val="232B33"/>
                </a:solidFill>
                <a:latin typeface="Arial"/>
              </a:rPr>
              <a:t>Laurus Labs does not disclose a consolidated CDMO market-share figure; CDMO contributed 31% of FY26 revenue (₹2,080 Cr).</a:t>
            </a:r>
            <a:endParaRPr lang="en-US" sz="1100" dirty="0">
              <a:solidFill>
                <a:srgbClr val="232B33"/>
              </a:solidFill>
              <a:latin typeface="Arial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232B33"/>
                </a:solidFill>
                <a:latin typeface="Arial"/>
              </a:defRPr>
            </a:pPr>
            <a:r>
              <a:rPr sz="1100" b="1" dirty="0"/>
              <a:t>Relevant peers: </a:t>
            </a:r>
            <a:r>
              <a:rPr sz="1100" dirty="0"/>
              <a:t>Divi’s, Torrent, Sun Pharma, Zydus, Cipla and Mankind.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232B33"/>
                </a:solidFill>
                <a:latin typeface="Arial"/>
              </a:defRPr>
            </a:pPr>
            <a:r>
              <a:rPr sz="1100" b="1" dirty="0"/>
              <a:t>Regulation</a:t>
            </a:r>
            <a:r>
              <a:rPr sz="1100" dirty="0"/>
              <a:t>: CDSCO/DCGI; NPPA/DPCO price controls; PLI and Biopharma SHAKTI support domestic manufacturing/R&amp;D.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232B33"/>
                </a:solidFill>
                <a:latin typeface="Arial"/>
              </a:defRPr>
            </a:pPr>
            <a:r>
              <a:rPr sz="1100" b="1" dirty="0"/>
              <a:t>Growth drivers</a:t>
            </a:r>
            <a:r>
              <a:rPr sz="1100" dirty="0"/>
              <a:t>: healthcare demand, exports, complex generics, CDMO outsourcing, </a:t>
            </a:r>
            <a:r>
              <a:rPr sz="1100" dirty="0" err="1"/>
              <a:t>localisation</a:t>
            </a:r>
            <a:r>
              <a:rPr sz="1100" dirty="0"/>
              <a:t> and R&amp;D investment.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232B33"/>
                </a:solidFill>
                <a:latin typeface="Arial"/>
              </a:defRPr>
            </a:pPr>
            <a:r>
              <a:rPr sz="1100" b="1" dirty="0"/>
              <a:t>Key risks</a:t>
            </a:r>
            <a:r>
              <a:rPr sz="1100" dirty="0"/>
              <a:t>: US/EU regulatory actions, pricing pressure, US generic erosion, geopolitical/supply-chain issues and high capex intensity.</a:t>
            </a:r>
          </a:p>
        </p:txBody>
      </p:sp>
      <p:pic>
        <p:nvPicPr>
          <p:cNvPr id="3" name="Picture 2" descr="Laurus Labs to invest Rs 450 cr to expand capacity - Elets eHealth">
            <a:extLst>
              <a:ext uri="{FF2B5EF4-FFF2-40B4-BE49-F238E27FC236}">
                <a16:creationId xmlns:a16="http://schemas.microsoft.com/office/drawing/2014/main" id="{91955831-F07B-4864-C8F8-FB2645A7E4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33" t="14131" r="5457" b="31475"/>
          <a:stretch>
            <a:fillRect/>
          </a:stretch>
        </p:blipFill>
        <p:spPr>
          <a:xfrm>
            <a:off x="9962044" y="-114"/>
            <a:ext cx="2227753" cy="8952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734800" cy="640080"/>
          </a:xfrm>
          <a:prstGeom prst="rect">
            <a:avLst/>
          </a:prstGeom>
          <a:noFill/>
          <a:ln/>
        </p:spPr>
        <p:txBody>
          <a:bodyPr wrap="square" lIns="45720" rIns="4572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sz="2800" b="1" i="0" dirty="0">
                <a:solidFill>
                  <a:srgbClr val="212F3D"/>
                </a:solidFill>
                <a:latin typeface="Arial"/>
              </a:rPr>
              <a:t>Laurus Labs | Valuation Overview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48640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BCCDD9"/>
            </a:solidFill>
          </a:ln>
          <a:effectLst>
            <a:outerShdw blurRad="88900" dist="38100" dir="5400000" algn="bl" rotWithShape="0">
              <a:srgbClr val="AAB4CC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601968" y="1301496"/>
            <a:ext cx="4179824" cy="436880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73152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50" b="1">
                <a:solidFill>
                  <a:srgbClr val="2E5B7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Football field (value per share, Rs)</a:t>
            </a:r>
            <a:endParaRPr lang="en-US" sz="1500"/>
          </a:p>
        </p:txBody>
      </p:sp>
      <p:sp>
        <p:nvSpPr>
          <p:cNvPr id="11" name="Text 8"/>
          <p:cNvSpPr txBox="1"/>
          <p:nvPr/>
        </p:nvSpPr>
        <p:spPr>
          <a:xfrm>
            <a:off x="655320" y="1372616"/>
            <a:ext cx="5084064" cy="3657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45720" tIns="45720" rIns="45720" bIns="4572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b="1" i="0" dirty="0">
                <a:solidFill>
                  <a:srgbClr val="2B5C85"/>
                </a:solidFill>
                <a:latin typeface="Arial"/>
              </a:rPr>
              <a:t>Key assumptions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63448" y="1878584"/>
            <a:ext cx="5047488" cy="274320"/>
          </a:xfrm>
          <a:prstGeom prst="rect">
            <a:avLst/>
          </a:prstGeom>
          <a:noFill/>
          <a:ln/>
        </p:spPr>
        <p:txBody>
          <a:bodyPr wrap="square" lIns="45720" rIns="4572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sz="1600" b="1" i="0" dirty="0">
                <a:solidFill>
                  <a:srgbClr val="2B5C85"/>
                </a:solidFill>
                <a:latin typeface="Arial"/>
              </a:rPr>
              <a:t>DCF assumptions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693928" y="2148839"/>
            <a:ext cx="4874768" cy="1161511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>
              <a:lnSpc>
                <a:spcPct val="105000"/>
              </a:lnSpc>
              <a:spcAft>
                <a:spcPts val="300"/>
              </a:spcAft>
              <a:buSzPct val="100000"/>
              <a:defRPr sz="919">
                <a:solidFill>
                  <a:srgbClr val="232B33"/>
                </a:solidFill>
                <a:latin typeface="Arial"/>
              </a:defRPr>
            </a:pPr>
            <a:r>
              <a:rPr sz="1600" b="1" dirty="0"/>
              <a:t>WACC</a:t>
            </a:r>
            <a:r>
              <a:rPr sz="1600" dirty="0"/>
              <a:t>: 14.0%</a:t>
            </a:r>
            <a:endParaRPr lang="en-US" sz="1600" dirty="0"/>
          </a:p>
          <a:p>
            <a:pPr>
              <a:spcAft>
                <a:spcPts val="300"/>
              </a:spcAft>
              <a:defRPr sz="919">
                <a:solidFill>
                  <a:srgbClr val="232B33"/>
                </a:solidFill>
                <a:latin typeface="Arial"/>
              </a:defRPr>
            </a:pPr>
            <a:r>
              <a:rPr sz="1600" b="1" dirty="0"/>
              <a:t>Terminal growth</a:t>
            </a:r>
            <a:r>
              <a:rPr sz="1600" dirty="0"/>
              <a:t>: 4.0%</a:t>
            </a:r>
          </a:p>
        </p:txBody>
      </p:sp>
      <p:sp>
        <p:nvSpPr>
          <p:cNvPr id="14" name="Text 11"/>
          <p:cNvSpPr txBox="1"/>
          <p:nvPr/>
        </p:nvSpPr>
        <p:spPr>
          <a:xfrm>
            <a:off x="602488" y="2758744"/>
            <a:ext cx="5047488" cy="274320"/>
          </a:xfrm>
          <a:prstGeom prst="rect">
            <a:avLst/>
          </a:prstGeom>
          <a:noFill/>
          <a:ln/>
        </p:spPr>
        <p:txBody>
          <a:bodyPr wrap="square" lIns="45720" rIns="4572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sz="1600" b="1" i="0" dirty="0">
                <a:solidFill>
                  <a:srgbClr val="2B5C85"/>
                </a:solidFill>
                <a:latin typeface="Arial"/>
              </a:rPr>
              <a:t>Comparable selection</a:t>
            </a:r>
            <a:endParaRPr lang="en-US" dirty="0"/>
          </a:p>
        </p:txBody>
      </p:sp>
      <p:sp>
        <p:nvSpPr>
          <p:cNvPr id="15" name="Text 12"/>
          <p:cNvSpPr txBox="1"/>
          <p:nvPr/>
        </p:nvSpPr>
        <p:spPr>
          <a:xfrm>
            <a:off x="673608" y="3096446"/>
            <a:ext cx="5047488" cy="2656957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>
              <a:lnSpc>
                <a:spcPct val="105000"/>
              </a:lnSpc>
              <a:spcAft>
                <a:spcPts val="300"/>
              </a:spcAft>
              <a:buSzPct val="100000"/>
              <a:defRPr sz="830">
                <a:solidFill>
                  <a:srgbClr val="232B33"/>
                </a:solidFill>
                <a:latin typeface="Arial"/>
              </a:defRPr>
            </a:pPr>
            <a:r>
              <a:rPr sz="1600" b="1" dirty="0">
                <a:solidFill>
                  <a:srgbClr val="232B33"/>
                </a:solidFill>
                <a:latin typeface="Arial"/>
              </a:rPr>
              <a:t>Peers</a:t>
            </a:r>
            <a:r>
              <a:rPr sz="1600" dirty="0"/>
              <a:t>: Divi’s Laboratories, Torrent Pharma, Sun Pharma, Zydus Lifesciences, Cipla, Mankind Pharma.</a:t>
            </a:r>
          </a:p>
          <a:p>
            <a:pPr>
              <a:spcAft>
                <a:spcPts val="300"/>
              </a:spcAft>
              <a:defRPr sz="830">
                <a:solidFill>
                  <a:srgbClr val="232B33"/>
                </a:solidFill>
                <a:latin typeface="Arial"/>
              </a:defRPr>
            </a:pPr>
            <a:r>
              <a:rPr sz="1600" b="1" dirty="0">
                <a:solidFill>
                  <a:srgbClr val="232B33"/>
                </a:solidFill>
                <a:latin typeface="Arial"/>
              </a:rPr>
              <a:t>Why</a:t>
            </a:r>
            <a:r>
              <a:rPr sz="1600" dirty="0"/>
              <a:t>: business overlap in Indian pharma, APIs/formulations/CDMO, scale and comparable return characteristics.</a:t>
            </a:r>
          </a:p>
          <a:p>
            <a:pPr>
              <a:spcAft>
                <a:spcPts val="300"/>
              </a:spcAft>
              <a:defRPr sz="830">
                <a:solidFill>
                  <a:srgbClr val="232B33"/>
                </a:solidFill>
                <a:latin typeface="Arial"/>
              </a:defRPr>
            </a:pPr>
            <a:r>
              <a:rPr sz="1600" b="1" dirty="0">
                <a:solidFill>
                  <a:srgbClr val="232B33"/>
                </a:solidFill>
                <a:latin typeface="Arial"/>
              </a:rPr>
              <a:t>Multiples</a:t>
            </a:r>
            <a:r>
              <a:rPr sz="1600" dirty="0"/>
              <a:t>: P/E and EV/EBITDA; median peer multiples = 41.6x and 22.5x.</a:t>
            </a:r>
          </a:p>
          <a:p>
            <a:pPr>
              <a:spcAft>
                <a:spcPts val="300"/>
              </a:spcAft>
              <a:defRPr sz="830">
                <a:solidFill>
                  <a:srgbClr val="232B33"/>
                </a:solidFill>
                <a:latin typeface="Arial"/>
              </a:defRPr>
            </a:pPr>
            <a:r>
              <a:rPr sz="1600" b="1" dirty="0">
                <a:solidFill>
                  <a:srgbClr val="232B33"/>
                </a:solidFill>
                <a:latin typeface="Arial"/>
              </a:rPr>
              <a:t>Implied point values</a:t>
            </a:r>
            <a:r>
              <a:rPr sz="1600" dirty="0"/>
              <a:t>: P/E ₹683.5/share; EV/EBITDA ₹721.5/share.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617162-E4C6-6F24-184B-2EC7DA486975}"/>
              </a:ext>
            </a:extLst>
          </p:cNvPr>
          <p:cNvSpPr/>
          <p:nvPr/>
        </p:nvSpPr>
        <p:spPr>
          <a:xfrm>
            <a:off x="683768" y="5479084"/>
            <a:ext cx="4996688" cy="886155"/>
          </a:xfrm>
          <a:prstGeom prst="rect">
            <a:avLst/>
          </a:prstGeom>
          <a:solidFill>
            <a:srgbClr val="F8CCAF"/>
          </a:solidFill>
          <a:ln w="9525">
            <a:solidFill>
              <a:srgbClr val="6EA0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t"/>
          <a:lstStyle/>
          <a:p>
            <a:pPr algn="ctr"/>
            <a:r>
              <a:rPr sz="1400" b="1" i="0" dirty="0">
                <a:solidFill>
                  <a:srgbClr val="2B5C85"/>
                </a:solidFill>
                <a:latin typeface="Arial"/>
              </a:rPr>
              <a:t>CMP: ₹992.7   </a:t>
            </a:r>
            <a:endParaRPr lang="en-IN" sz="1400" b="1" dirty="0">
              <a:solidFill>
                <a:srgbClr val="2B5C85"/>
              </a:solidFill>
              <a:latin typeface="Arial"/>
              <a:cs typeface="Arial"/>
            </a:endParaRPr>
          </a:p>
          <a:p>
            <a:pPr algn="ctr"/>
            <a:r>
              <a:rPr sz="1400" b="1" i="0" dirty="0">
                <a:solidFill>
                  <a:srgbClr val="2B5C85"/>
                </a:solidFill>
                <a:latin typeface="Arial"/>
              </a:rPr>
              <a:t>3-method reference value: ₹304.</a:t>
            </a:r>
            <a:r>
              <a:rPr lang="en-IN" sz="1400" b="1" i="0" dirty="0">
                <a:solidFill>
                  <a:srgbClr val="2B5C85"/>
                </a:solidFill>
                <a:latin typeface="Arial"/>
              </a:rPr>
              <a:t>5</a:t>
            </a:r>
            <a:r>
              <a:rPr sz="1400" b="1" i="0" dirty="0">
                <a:solidFill>
                  <a:srgbClr val="2B5C85"/>
                </a:solidFill>
                <a:latin typeface="Arial"/>
              </a:rPr>
              <a:t>    </a:t>
            </a:r>
            <a:endParaRPr lang="en-IN" sz="1400" b="1" i="0" dirty="0">
              <a:solidFill>
                <a:srgbClr val="2B5C85"/>
              </a:solidFill>
              <a:latin typeface="Arial"/>
              <a:cs typeface="Arial"/>
            </a:endParaRPr>
          </a:p>
          <a:p>
            <a:pPr algn="ctr"/>
            <a:r>
              <a:rPr sz="1400" b="1" i="0" dirty="0">
                <a:solidFill>
                  <a:srgbClr val="2B5C85"/>
                </a:solidFill>
                <a:latin typeface="Arial"/>
              </a:rPr>
              <a:t>Implied downside: 69.3%   </a:t>
            </a:r>
            <a:endParaRPr lang="en-IN" sz="1400" b="1" dirty="0">
              <a:solidFill>
                <a:srgbClr val="2B5C85"/>
              </a:solidFill>
              <a:latin typeface="Arial"/>
              <a:cs typeface="Arial"/>
            </a:endParaRPr>
          </a:p>
          <a:p>
            <a:pPr algn="ctr"/>
            <a:r>
              <a:rPr sz="1400" b="1" i="0" dirty="0">
                <a:solidFill>
                  <a:srgbClr val="2B5C85"/>
                </a:solidFill>
                <a:latin typeface="Arial"/>
              </a:rPr>
              <a:t>Recommendation: </a:t>
            </a:r>
            <a:r>
              <a:rPr sz="1400" b="1" i="0" dirty="0">
                <a:solidFill>
                  <a:srgbClr val="FF0000"/>
                </a:solidFill>
                <a:latin typeface="Arial"/>
              </a:rPr>
              <a:t>SELL</a:t>
            </a:r>
            <a:endParaRPr lang="en-US" sz="1400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6373368"/>
            <a:ext cx="11274552" cy="16459"/>
          </a:xfrm>
          <a:prstGeom prst="rect">
            <a:avLst/>
          </a:prstGeom>
          <a:solidFill>
            <a:srgbClr val="BCC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E9AA7A57-35B2-E822-E578-A1151D1EEE7D}"/>
              </a:ext>
            </a:extLst>
          </p:cNvPr>
          <p:cNvSpPr txBox="1"/>
          <p:nvPr/>
        </p:nvSpPr>
        <p:spPr>
          <a:xfrm>
            <a:off x="6446519" y="1296642"/>
            <a:ext cx="5277407" cy="6045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45720" tIns="45720" rIns="45720" bIns="45720" rtlCol="0" anchor="t"/>
          <a:lstStyle/>
          <a:p>
            <a:pPr algn="ctr">
              <a:spcAft>
                <a:spcPts val="400"/>
              </a:spcAft>
            </a:pPr>
            <a:r>
              <a:rPr sz="1400" b="1" i="0" dirty="0">
                <a:solidFill>
                  <a:srgbClr val="2B5C85"/>
                </a:solidFill>
                <a:latin typeface="Arial"/>
              </a:rPr>
              <a:t>Football Field – DCF, Market Comparables &amp; Economic Profit
₹ per share</a:t>
            </a:r>
            <a:endParaRPr lang="en-US" sz="1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B91F081B-360C-1E4F-6424-34BE99EB0782}"/>
              </a:ext>
            </a:extLst>
          </p:cNvPr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45720" rIns="4572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 b="0" i="1" dirty="0">
                <a:solidFill>
                  <a:srgbClr val="59636D"/>
                </a:solidFill>
                <a:latin typeface="Arial"/>
              </a:rPr>
              <a:t>Prepared by: [</a:t>
            </a:r>
            <a:r>
              <a:rPr lang="en-IN" sz="800" b="0" i="1" dirty="0">
                <a:solidFill>
                  <a:srgbClr val="59636D"/>
                </a:solidFill>
                <a:latin typeface="Arial"/>
              </a:rPr>
              <a:t>Saisha Hemrajani</a:t>
            </a:r>
            <a:r>
              <a:rPr sz="800" b="0" i="1" dirty="0">
                <a:solidFill>
                  <a:srgbClr val="59636D"/>
                </a:solidFill>
                <a:latin typeface="Arial"/>
              </a:rPr>
              <a:t>]  |  Target: Laurus Labs Ltd  |  Valuation date: 31-Mar-2026</a:t>
            </a:r>
            <a:endParaRPr lang="en-US" sz="8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BDF81A-C5A3-3D7A-DEB3-C003234ADE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4" t="-1376" r="-211" b="-459"/>
          <a:stretch>
            <a:fillRect/>
          </a:stretch>
        </p:blipFill>
        <p:spPr>
          <a:xfrm>
            <a:off x="6264762" y="2290344"/>
            <a:ext cx="5715934" cy="2732397"/>
          </a:xfrm>
          <a:prstGeom prst="rect">
            <a:avLst/>
          </a:prstGeom>
        </p:spPr>
      </p:pic>
      <p:pic>
        <p:nvPicPr>
          <p:cNvPr id="8" name="Picture 7" descr="Laurus Labs to invest Rs 450 cr to expand capacity - Elets eHealth">
            <a:extLst>
              <a:ext uri="{FF2B5EF4-FFF2-40B4-BE49-F238E27FC236}">
                <a16:creationId xmlns:a16="http://schemas.microsoft.com/office/drawing/2014/main" id="{AE54842F-9451-4A7D-533B-8F4F791452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333" t="14131" r="5457" b="31475"/>
          <a:stretch>
            <a:fillRect/>
          </a:stretch>
        </p:blipFill>
        <p:spPr>
          <a:xfrm>
            <a:off x="9962044" y="-114"/>
            <a:ext cx="2227753" cy="8952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9EA1E-2653-92E1-CBCE-9681507BB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213096-3B6F-2932-2206-09223CD2EB32}"/>
              </a:ext>
            </a:extLst>
          </p:cNvPr>
          <p:cNvSpPr txBox="1"/>
          <p:nvPr/>
        </p:nvSpPr>
        <p:spPr>
          <a:xfrm>
            <a:off x="457199" y="292608"/>
            <a:ext cx="11732597" cy="640080"/>
          </a:xfrm>
          <a:prstGeom prst="rect">
            <a:avLst/>
          </a:prstGeom>
          <a:noFill/>
          <a:ln/>
        </p:spPr>
        <p:txBody>
          <a:bodyPr wrap="square" lIns="45720" rIns="45720" rtlCol="0" anchor="t"/>
          <a:lstStyle/>
          <a:p>
            <a:pPr algn="ctr">
              <a:spcAft>
                <a:spcPts val="400"/>
              </a:spcAft>
            </a:pPr>
            <a:r>
              <a:rPr sz="2800" b="1" i="0" dirty="0">
                <a:solidFill>
                  <a:srgbClr val="212F3D"/>
                </a:solidFill>
                <a:latin typeface="Arial"/>
              </a:rPr>
              <a:t>Laurus Labs | Investment Rationale</a:t>
            </a:r>
            <a:endParaRPr lang="en-US" sz="2800" b="1" dirty="0">
              <a:solidFill>
                <a:srgbClr val="1F2A33"/>
              </a:solidFill>
              <a:latin typeface="Arial"/>
              <a:ea typeface="Cambria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B9985E3-1DFA-9A30-D82D-3CF3A50EA4EE}"/>
              </a:ext>
            </a:extLst>
          </p:cNvPr>
          <p:cNvSpPr txBox="1"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3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9F54E47-8CBE-3D6A-E60A-279A66AF828D}"/>
              </a:ext>
            </a:extLst>
          </p:cNvPr>
          <p:cNvSpPr/>
          <p:nvPr/>
        </p:nvSpPr>
        <p:spPr>
          <a:xfrm>
            <a:off x="457200" y="1234440"/>
            <a:ext cx="548640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BCCDD9"/>
            </a:solidFill>
          </a:ln>
          <a:effectLst>
            <a:outerShdw blurRad="88900" dist="38100" dir="5400000" algn="bl" rotWithShape="0">
              <a:srgbClr val="AAB4CC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FA88EB-3BE2-2EFB-57A6-BA22ED2E2C13}"/>
              </a:ext>
            </a:extLst>
          </p:cNvPr>
          <p:cNvSpPr/>
          <p:nvPr/>
        </p:nvSpPr>
        <p:spPr>
          <a:xfrm>
            <a:off x="570992" y="1476228"/>
            <a:ext cx="5372608" cy="2404892"/>
          </a:xfrm>
          <a:prstGeom prst="rect">
            <a:avLst/>
          </a:prstGeom>
          <a:solidFill>
            <a:srgbClr val="E2EFDA"/>
          </a:solidFill>
          <a:ln w="9525">
            <a:solidFill>
              <a:srgbClr val="6EA0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>
              <a:spcAft>
                <a:spcPts val="200"/>
              </a:spcAft>
              <a:defRPr sz="1120" b="1">
                <a:solidFill>
                  <a:srgbClr val="2B5C85"/>
                </a:solidFill>
                <a:latin typeface="Arial"/>
              </a:defRPr>
            </a:pPr>
            <a:r>
              <a:rPr lang="en-IN" sz="1400" dirty="0"/>
              <a:t>CMPS: </a:t>
            </a:r>
          </a:p>
          <a:p>
            <a:pPr>
              <a:spcAft>
                <a:spcPts val="200"/>
              </a:spcAft>
              <a:defRPr sz="1120" b="1">
                <a:solidFill>
                  <a:srgbClr val="2B5C85"/>
                </a:solidFill>
                <a:latin typeface="Arial"/>
              </a:defRPr>
            </a:pPr>
            <a:r>
              <a:rPr lang="en-IN" sz="1400" dirty="0">
                <a:solidFill>
                  <a:schemeClr val="tx1"/>
                </a:solidFill>
                <a:latin typeface="Arial"/>
              </a:rPr>
              <a:t>₹992.70 per share (CMP </a:t>
            </a:r>
            <a:r>
              <a:rPr lang="en-IN" sz="1400" i="1" dirty="0">
                <a:solidFill>
                  <a:schemeClr val="tx1"/>
                </a:solidFill>
                <a:latin typeface="Arial"/>
              </a:rPr>
              <a:t>as of 30-Mar-2026)</a:t>
            </a:r>
            <a:endParaRPr lang="en-IN" sz="1400" dirty="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1120" b="1">
                <a:solidFill>
                  <a:srgbClr val="2B5C85"/>
                </a:solidFill>
                <a:latin typeface="Arial"/>
              </a:defRPr>
            </a:pPr>
            <a:endParaRPr lang="en-IN" sz="1400" dirty="0"/>
          </a:p>
          <a:p>
            <a:r>
              <a:rPr lang="en-IN" sz="1600" b="1" dirty="0">
                <a:solidFill>
                  <a:srgbClr val="2E5B7D"/>
                </a:solidFill>
                <a:latin typeface="Arial"/>
                <a:cs typeface="Arial"/>
              </a:rPr>
              <a:t>Fair Value ( Based on all methods) </a:t>
            </a:r>
            <a:endParaRPr lang="en-IN" sz="2400" dirty="0"/>
          </a:p>
          <a:p>
            <a:pPr>
              <a:spcAft>
                <a:spcPts val="0"/>
              </a:spcAft>
            </a:pPr>
            <a:r>
              <a:rPr lang="en-US" sz="1400" b="1" dirty="0">
                <a:solidFill>
                  <a:schemeClr val="tx1"/>
                </a:solidFill>
                <a:latin typeface="Arial"/>
              </a:rPr>
              <a:t>₹304.5</a:t>
            </a:r>
          </a:p>
          <a:p>
            <a:pPr>
              <a:spcAft>
                <a:spcPts val="300"/>
              </a:spcAft>
            </a:pPr>
            <a:r>
              <a:rPr lang="en-US" sz="1600" dirty="0">
                <a:solidFill>
                  <a:srgbClr val="C00000"/>
                </a:solidFill>
                <a:latin typeface="Arial"/>
              </a:rPr>
              <a:t>69.3% below the valuation-date CMP</a:t>
            </a:r>
          </a:p>
          <a:p>
            <a:endParaRPr lang="en-IN" sz="1600" b="1" dirty="0">
              <a:solidFill>
                <a:srgbClr val="2E5B7D"/>
              </a:solidFill>
              <a:latin typeface="Arial"/>
              <a:cs typeface="Arial"/>
            </a:endParaRPr>
          </a:p>
          <a:p>
            <a:r>
              <a:rPr lang="en-IN" sz="1600" b="1" dirty="0">
                <a:solidFill>
                  <a:srgbClr val="2E5B7D"/>
                </a:solidFill>
                <a:latin typeface="Arial"/>
                <a:cs typeface="Arial"/>
              </a:rPr>
              <a:t>Recommendation</a:t>
            </a:r>
          </a:p>
          <a:p>
            <a:pPr>
              <a:spcAft>
                <a:spcPts val="200"/>
              </a:spcAft>
              <a:defRPr sz="1120" b="1">
                <a:solidFill>
                  <a:srgbClr val="2B5C85"/>
                </a:solidFill>
                <a:latin typeface="Arial"/>
              </a:defRPr>
            </a:pPr>
            <a:r>
              <a:rPr lang="en-IN" sz="1600" b="1" dirty="0">
                <a:solidFill>
                  <a:srgbClr val="FF0000"/>
                </a:solidFill>
                <a:latin typeface="Arial"/>
                <a:cs typeface="Arial"/>
              </a:rPr>
              <a:t>SELL</a:t>
            </a:r>
            <a:endParaRPr lang="en-IN" sz="14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A7C8DD-3356-9015-D173-F47C1FF4B7CD}"/>
              </a:ext>
            </a:extLst>
          </p:cNvPr>
          <p:cNvSpPr/>
          <p:nvPr/>
        </p:nvSpPr>
        <p:spPr>
          <a:xfrm>
            <a:off x="457200" y="6373368"/>
            <a:ext cx="11274552" cy="16459"/>
          </a:xfrm>
          <a:prstGeom prst="rect">
            <a:avLst/>
          </a:prstGeom>
          <a:solidFill>
            <a:srgbClr val="BCC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4272" y="1218380"/>
            <a:ext cx="5248459" cy="332399"/>
          </a:xfrm>
          <a:prstGeom prst="rect">
            <a:avLst/>
          </a:prstGeom>
          <a:solidFill>
            <a:srgbClr val="F8CCAF"/>
          </a:solidFill>
          <a:ln w="9525">
            <a:solidFill>
              <a:srgbClr val="6EA0C4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IN" b="1" dirty="0">
                <a:solidFill>
                  <a:srgbClr val="2E5B7D"/>
                </a:solidFill>
                <a:latin typeface="Arial"/>
              </a:rPr>
              <a:t>Why we say SELL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4272" y="1517991"/>
            <a:ext cx="5248459" cy="4367349"/>
          </a:xfrm>
          <a:prstGeom prst="rect">
            <a:avLst/>
          </a:prstGeom>
          <a:solidFill>
            <a:srgbClr val="E1EBF2"/>
          </a:solidFill>
          <a:ln w="9525">
            <a:solidFill>
              <a:srgbClr val="6EA0C4"/>
            </a:solidFill>
          </a:ln>
        </p:spPr>
        <p:txBody>
          <a:bodyPr wrap="square" lIns="109728" tIns="73152" rIns="10972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600" dirty="0">
                <a:solidFill>
                  <a:srgbClr val="1F2A33"/>
                </a:solidFill>
                <a:latin typeface="Arial"/>
              </a:rPr>
              <a:t>• </a:t>
            </a:r>
            <a:r>
              <a:rPr lang="en-US" sz="1600" b="1" dirty="0">
                <a:solidFill>
                  <a:srgbClr val="1F2A33"/>
                </a:solidFill>
                <a:latin typeface="Arial"/>
              </a:rPr>
              <a:t>Valuation gap: </a:t>
            </a:r>
            <a:r>
              <a:rPr lang="en-US" sz="1600" dirty="0">
                <a:solidFill>
                  <a:srgbClr val="1F2A33"/>
                </a:solidFill>
                <a:latin typeface="Arial"/>
              </a:rPr>
              <a:t>The equal-weighted reference value of ₹304.8 is 69.3% below the valuation-date CMP of ₹992.7.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600" dirty="0">
                <a:solidFill>
                  <a:srgbClr val="1F2A33"/>
                </a:solidFill>
                <a:latin typeface="Arial"/>
              </a:rPr>
              <a:t>• </a:t>
            </a:r>
            <a:r>
              <a:rPr lang="en-US" sz="1600" b="1" dirty="0">
                <a:solidFill>
                  <a:srgbClr val="1F2A33"/>
                </a:solidFill>
                <a:latin typeface="Arial"/>
              </a:rPr>
              <a:t>Operating growth: </a:t>
            </a:r>
            <a:r>
              <a:rPr lang="en-US" sz="1600" dirty="0">
                <a:solidFill>
                  <a:srgbClr val="1F2A33"/>
                </a:solidFill>
                <a:latin typeface="Arial"/>
              </a:rPr>
              <a:t>FY26 revenue grew 23% YoY, EBITDA 64% and PAT 148%; CDMO revenue grew 36% and reached ~31% of revenue.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600" dirty="0">
                <a:solidFill>
                  <a:srgbClr val="1F2A33"/>
                </a:solidFill>
                <a:latin typeface="Arial"/>
              </a:rPr>
              <a:t>• </a:t>
            </a:r>
            <a:r>
              <a:rPr lang="en-US" sz="1600" b="1" dirty="0">
                <a:solidFill>
                  <a:srgbClr val="1F2A33"/>
                </a:solidFill>
                <a:latin typeface="Arial"/>
              </a:rPr>
              <a:t>DCF &amp; Economic Profit: </a:t>
            </a:r>
            <a:r>
              <a:rPr lang="en-US" sz="1600" dirty="0">
                <a:solidFill>
                  <a:srgbClr val="1F2A33"/>
                </a:solidFill>
                <a:latin typeface="Arial"/>
              </a:rPr>
              <a:t>DCF-FCFF of ₹112.5 and Economic Profit of ₹118.5 are substantially below the valuation-date market price.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600" dirty="0">
                <a:solidFill>
                  <a:srgbClr val="1F2A33"/>
                </a:solidFill>
                <a:latin typeface="Arial"/>
              </a:rPr>
              <a:t>• </a:t>
            </a:r>
            <a:r>
              <a:rPr lang="en-US" sz="1600" b="1" dirty="0">
                <a:solidFill>
                  <a:srgbClr val="1F2A33"/>
                </a:solidFill>
                <a:latin typeface="Arial"/>
              </a:rPr>
              <a:t>Reinvestment intensity: </a:t>
            </a:r>
            <a:r>
              <a:rPr lang="en-US" sz="1600" dirty="0">
                <a:solidFill>
                  <a:srgbClr val="1F2A33"/>
                </a:solidFill>
                <a:latin typeface="Arial"/>
              </a:rPr>
              <a:t>The model assumes ₹1,200 Cr annual capex and rising working capital, constraining near-term FCFF and increasing funding needs.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1F2A33"/>
                </a:solidFill>
                <a:latin typeface="Arial"/>
              </a:rPr>
              <a:t>• </a:t>
            </a:r>
            <a:r>
              <a:rPr lang="en-US" sz="1600" b="1" dirty="0">
                <a:solidFill>
                  <a:srgbClr val="1F2A33"/>
                </a:solidFill>
                <a:latin typeface="Arial"/>
              </a:rPr>
              <a:t>Key risks: </a:t>
            </a:r>
            <a:r>
              <a:rPr lang="en-US" sz="1600" dirty="0">
                <a:solidFill>
                  <a:srgbClr val="1F2A33"/>
                </a:solidFill>
                <a:latin typeface="Arial"/>
              </a:rPr>
              <a:t>Valuation remains sensitive to WACC, terminal growth and margin delivery; regulatory/pricing and customer execution risks remain relevant.</a:t>
            </a:r>
          </a:p>
          <a:p>
            <a:endParaRPr sz="1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8454175F-22AC-82E4-B13B-29D4615FB226}"/>
              </a:ext>
            </a:extLst>
          </p:cNvPr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45720" rIns="4572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 b="0" i="1" dirty="0">
                <a:solidFill>
                  <a:srgbClr val="59636D"/>
                </a:solidFill>
                <a:latin typeface="Arial"/>
              </a:rPr>
              <a:t>Prepared by: [</a:t>
            </a:r>
            <a:r>
              <a:rPr lang="en-IN" sz="800" b="0" i="1" dirty="0">
                <a:solidFill>
                  <a:srgbClr val="59636D"/>
                </a:solidFill>
                <a:latin typeface="Arial"/>
              </a:rPr>
              <a:t>Saisha Hemrajani</a:t>
            </a:r>
            <a:r>
              <a:rPr sz="800" b="0" i="1" dirty="0">
                <a:solidFill>
                  <a:srgbClr val="59636D"/>
                </a:solidFill>
                <a:latin typeface="Arial"/>
              </a:rPr>
              <a:t>]  |  Target: Laurus Labs Ltd  |  Valuation date: 31-Mar-2026</a:t>
            </a:r>
            <a:endParaRPr lang="en-US" sz="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CB51D6-AA12-0803-86AD-CE70C5F6A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92" y="4484624"/>
            <a:ext cx="5372607" cy="7194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7FB1B2F-7C67-2999-C544-B0D86DE3C00E}"/>
              </a:ext>
            </a:extLst>
          </p:cNvPr>
          <p:cNvSpPr/>
          <p:nvPr/>
        </p:nvSpPr>
        <p:spPr>
          <a:xfrm>
            <a:off x="570992" y="4027424"/>
            <a:ext cx="5372608" cy="310896"/>
          </a:xfrm>
          <a:prstGeom prst="rect">
            <a:avLst/>
          </a:prstGeom>
          <a:solidFill>
            <a:srgbClr val="F4B183"/>
          </a:solidFill>
          <a:ln w="9525">
            <a:solidFill>
              <a:srgbClr val="F4B1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40" b="1" dirty="0">
                <a:solidFill>
                  <a:srgbClr val="2E5B7D"/>
                </a:solidFill>
                <a:latin typeface="Arial"/>
              </a:rPr>
              <a:t>How we got to fair value (₹ per share)</a:t>
            </a:r>
          </a:p>
        </p:txBody>
      </p:sp>
      <p:pic>
        <p:nvPicPr>
          <p:cNvPr id="4" name="Picture 3" descr="Laurus Labs to invest Rs 450 cr to expand capacity - Elets eHealth">
            <a:extLst>
              <a:ext uri="{FF2B5EF4-FFF2-40B4-BE49-F238E27FC236}">
                <a16:creationId xmlns:a16="http://schemas.microsoft.com/office/drawing/2014/main" id="{7D5D0798-8BFB-4CEF-8683-52AECC40A7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333" t="14131" r="5457" b="31475"/>
          <a:stretch>
            <a:fillRect/>
          </a:stretch>
        </p:blipFill>
        <p:spPr>
          <a:xfrm>
            <a:off x="9962044" y="-114"/>
            <a:ext cx="2227753" cy="89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119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809</Words>
  <Application>Microsoft Office PowerPoint</Application>
  <PresentationFormat>Widescreen</PresentationFormat>
  <Paragraphs>93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Saisha Hemrajani</cp:lastModifiedBy>
  <cp:revision>227</cp:revision>
  <dcterms:created xsi:type="dcterms:W3CDTF">2026-09-03T06:23:18Z</dcterms:created>
  <dcterms:modified xsi:type="dcterms:W3CDTF">2026-10-17T11:45:05Z</dcterms:modified>
</cp:coreProperties>
</file>